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640080"/>
            <a:ext cx="2743200" cy="27432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291840"/>
            <a:ext cx="1920240" cy="192024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1188720" cy="11887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7315200" cy="2011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PHISHING</a:t>
            </a:r>
            <a:br/>
            <a:r>
              <a:t>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6858000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200" b="0">
                <a:solidFill>
                  <a:srgbClr val="CDDCF5"/>
                </a:solidFill>
                <a:latin typeface="Aptos"/>
              </a:defRPr>
            </a:pPr>
            <a:r>
              <a:t>Recognize the bait. Verify the source. Protect your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67665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00ADB5"/>
                </a:solidFill>
                <a:latin typeface="Aptos"/>
              </a:defRPr>
            </a:pPr>
            <a:r>
              <a:t>A practical security-awareness training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200" b="0">
                <a:solidFill>
                  <a:srgbClr val="BEC9DC"/>
                </a:solidFill>
                <a:latin typeface="Aptos"/>
              </a:defRPr>
            </a:pPr>
            <a:r>
              <a:t>Prepared for CodeAlpha Internship • Task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BEC9DC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Explain what phishing is and why attackers use it.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Recognize warning signs in emails, messages, and websites.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Identify social-engineering tactics such as urgency, authority, and fear.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Practice safer ways to verify requests and protect accounts.</a:t>
            </a:r>
          </a:p>
          <a:p>
            <a:pPr>
              <a:spcAft>
                <a:spcPts val="1200"/>
              </a:spcAft>
              <a:defRPr sz="2200">
                <a:solidFill>
                  <a:srgbClr val="222B3C"/>
                </a:solidFill>
                <a:latin typeface="Aptos"/>
              </a:defRPr>
            </a:pPr>
            <a:r>
              <a:t>•  Choose what to do when a message seems suspicious—or when you already clicked.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THE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378440" cy="1508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200" b="1">
                <a:solidFill>
                  <a:srgbClr val="111C34"/>
                </a:solidFill>
                <a:latin typeface="Aptos"/>
              </a:defRPr>
            </a:pPr>
            <a:r>
              <a:t>Phishing is a form of social engineering in which an attacker impersonates a trusted person or organization to trick someone into revealing information, opening a harmful attachment, sending money, or taking another unsafe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375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337560"/>
            <a:ext cx="82296" cy="1828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926079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THE BAIT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50791"/>
            <a:ext cx="2898648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A message, call, QR code, or website designed to look trustworthy.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3375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3337560"/>
            <a:ext cx="82296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2926079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THE TRICK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50791"/>
            <a:ext cx="2898648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Pressure, deception, or a believable story that prompts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33756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3337560"/>
            <a:ext cx="82296" cy="182880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2926079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050791"/>
            <a:ext cx="2898648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Steal credentials or data, gain access, or persuade someone to transfer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How a phishing attack often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THE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82296" cy="2743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031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1.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075688" cy="1920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 message pretends to be from a bank, employer, delivery service, or friend.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82296" cy="2743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11680"/>
            <a:ext cx="21031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2.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42032"/>
            <a:ext cx="2075688" cy="1920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It asks you to click, open, pay, sign in, or share a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828800"/>
            <a:ext cx="82296" cy="27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21031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3.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42032"/>
            <a:ext cx="2075688" cy="1920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 fake page collects information, or a link/attachment triggers a harmful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82296" cy="274320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011680"/>
            <a:ext cx="21031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4. Misuse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542032"/>
            <a:ext cx="2075688" cy="1920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The attacker may try account takeover, fraud, or data theft.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Spot the warning signs in an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Unexpected request for a password, one-time code, payment, or personal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Urgent or threatening language: “act now,” “account will be closed,” or “final warning.”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Sender address or reply-to does not match the organization or person claimed.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Unexpected attachments, unusual links, or requests to install software.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Generic greeting, odd wording, inconsistent branding, or details that do not fit.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A message that bypasses normal approval or verification procedures.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Check links and fake websites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1663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82296" cy="384048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75488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LOOK CLOSELY AT THE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4727448" cy="3017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• Read the registered domain carefully.</a:t>
            </a:r>
            <a:br/>
            <a:br/>
            <a:r>
              <a:t>• Watch for misspellings, extra words, strange subdomains, and look-alike characters.</a:t>
            </a:r>
            <a:br/>
            <a:br/>
            <a:r>
              <a:t>• HTTPS/padlock encrypts the connection; it does not prove the site is legitimate.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663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384048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SAFER WAYS TO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4727448" cy="30175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• Don't sign in through a message link.</a:t>
            </a:r>
            <a:br/>
            <a:br/>
            <a:r>
              <a:t>• Type a known address or use the official app/bookmark.</a:t>
            </a:r>
            <a:br/>
            <a:br/>
            <a:r>
              <a:t>• Check the request using a trusted phone number or separate channel.</a:t>
            </a:r>
            <a:br/>
            <a:br/>
            <a:r>
              <a:t>• Never enter credentials if unsure.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600" b="1">
                <a:solidFill>
                  <a:srgbClr val="2962FF"/>
                </a:solidFill>
                <a:latin typeface="Aptos"/>
              </a:defRPr>
            </a:pPr>
            <a:r>
              <a:t>Fictional example:  bank-example.com  ≠  bank-example-security.example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Social-engineering tactics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82296" cy="160020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97180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944368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“Your account closes in 10 minutes.”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17320"/>
            <a:ext cx="82296" cy="1600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297180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130552"/>
            <a:ext cx="2944368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“I’m the director. Buy gift cards now.”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417320"/>
            <a:ext cx="82296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297180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Fear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130552"/>
            <a:ext cx="2944368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“A legal case has been opened.”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474720"/>
            <a:ext cx="82296" cy="16002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97180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2944368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“You won a prize—claim it here.”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474720"/>
            <a:ext cx="82296" cy="1600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657600"/>
            <a:ext cx="297180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Curiosity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187952"/>
            <a:ext cx="2944368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“See the confidential file.”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4747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474720"/>
            <a:ext cx="82296" cy="160020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3657600"/>
            <a:ext cx="297180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Familiarity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187952"/>
            <a:ext cx="2944368" cy="7772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500" b="0">
                <a:solidFill>
                  <a:srgbClr val="222B3C"/>
                </a:solidFill>
                <a:latin typeface="Aptos"/>
              </a:defRPr>
            </a:pPr>
            <a:r>
              <a:t>A message appears to come from a colleague.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Phishing can arrive through many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RECOGNIZE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82296" cy="18288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30175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2990088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Fake invoices, account alerts, shared-document notices.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82296" cy="1828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30175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SMS / 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2990088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Delivery fees, mobile-money alerts, urgent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630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63040"/>
            <a:ext cx="82296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0175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CALLS / SOCIAL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76272"/>
            <a:ext cx="2990088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Fake support agents, impersonation, fraudulent offers.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40" y="3794760"/>
            <a:ext cx="82296" cy="164592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977640"/>
            <a:ext cx="30175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QR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07992"/>
            <a:ext cx="2990088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May lead to a fake login or payment page.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82296" cy="164592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40"/>
            <a:ext cx="301752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FAKE SIGN-IN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07992"/>
            <a:ext cx="2990088" cy="822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Look-alike pages can collect credentials or codes.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Example scenarios: find the red flags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82296" cy="3566160"/>
          </a:xfrm>
          <a:prstGeom prst="rect">
            <a:avLst/>
          </a:prstGeom>
          <a:solidFill>
            <a:srgbClr val="CD3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75488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SCENARIO A — “BANK”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4727448" cy="2743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“Your mobile banking access is blocked. Confirm your PIN and one-time code using this link within 15 minutes.”</a:t>
            </a:r>
            <a:br/>
            <a:br/>
            <a:r>
              <a:t>Red flags: urgency, request for PIN/OTP, link-based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3566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SCENARIO B — “COWORKER”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4727448" cy="2743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700" b="0">
                <a:solidFill>
                  <a:srgbClr val="222B3C"/>
                </a:solidFill>
                <a:latin typeface="Aptos"/>
              </a:defRPr>
            </a:pPr>
            <a:r>
              <a:t>“I’m in a meeting. Open this unexpected document and sign in with your work account.”</a:t>
            </a:r>
            <a:br/>
            <a:br/>
            <a:r>
              <a:t>Red flags: unexpected file, unusual sign-in request, pressure to bypass checks.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300" b="0">
                <a:solidFill>
                  <a:srgbClr val="5C697D"/>
                </a:solidFill>
                <a:latin typeface="Aptos"/>
              </a:defRPr>
            </a:pPr>
            <a:r>
              <a:t>Fictional training scenarios based on common phishing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Real-world patterns to learn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Business email compromise: impersonating an executive or supplier to request a payment or bank-detail change.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Credential phishing: a fake login page imitates a service and captures credentials.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Delivery-fee scam: a message claims a parcel is held and asks for payment through a link.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MFA-code theft: a scammer asks for a one-time code or pushes a victim to approve a sign-in.</a:t>
            </a:r>
          </a:p>
          <a:p>
            <a:pPr>
              <a:spcAft>
                <a:spcPts val="1200"/>
              </a:spcAft>
              <a:defRPr sz="1900">
                <a:solidFill>
                  <a:srgbClr val="222B3C"/>
                </a:solidFill>
                <a:latin typeface="Aptos"/>
              </a:defRPr>
            </a:pPr>
            <a:r>
              <a:t>•  Lesson: independently verify sensitive requests, especially payments, account changes, and authentication codes.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100" b="0">
                <a:solidFill>
                  <a:srgbClr val="5C697D"/>
                </a:solidFill>
                <a:latin typeface="Aptos"/>
              </a:defRPr>
            </a:pPr>
            <a:r>
              <a:t>These are generalized examples of common real-world patterns, not claims about a specific incident.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Best practices: reduce your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Pause before acting on unexpected or urgent messages.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Verify the sender and request using a separate, trusted channel.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Navigate through a known website or official app—not message links.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Use unique passwords with a password manager; enable multifactor authentication (MFA).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Never share passwords, PINs, recovery codes, or one-time passcodes with someone who contacts you.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Keep your device, browser, and security software updated.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Report suspicious messages using your organization's approved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What if you clicked or shared information?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241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1. Stop interacting. Don't enter more information or approve further prompts.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2. Report the incident through your organization's, service provider's, or bank's official channel.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3. If you entered a password, change it from a trusted device; change it anywhere else it was reused.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4. If you shared a code or approved a sign-in, review sessions and revoke unfamiliar ones.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5. If money or financial details are involved, contact your bank/payment provider immediately.</a:t>
            </a:r>
          </a:p>
          <a:p>
            <a:pPr>
              <a:spcAft>
                <a:spcPts val="1200"/>
              </a:spcAft>
              <a:defRPr sz="1800">
                <a:solidFill>
                  <a:srgbClr val="222B3C"/>
                </a:solidFill>
                <a:latin typeface="Aptos"/>
              </a:defRPr>
            </a:pPr>
            <a:r>
              <a:t>•  6. Preserve the message and follow your organization's incident-response guidance.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Quiz 1: The urgent account warning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1051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200" b="1">
                <a:solidFill>
                  <a:srgbClr val="111C34"/>
                </a:solidFill>
                <a:latin typeface="Aptos"/>
              </a:defRPr>
            </a:pPr>
            <a:r>
              <a:t>A message says: “Your account will be locked. Verify your password and code here now.” What should you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7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A. Click quickly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82112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B. Reply and ask if it is real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03904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67912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C. Open the official app/site independently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25696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89704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D. Share the code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249160"/>
                </a:solidFill>
                <a:latin typeface="Aptos"/>
              </a:defRPr>
            </a:pPr>
            <a:r>
              <a:t>ANSWER: C — Check through the official app/site.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5C697D"/>
                </a:solidFill>
                <a:latin typeface="Aptos"/>
              </a:defRPr>
            </a:pPr>
            <a:r>
              <a:t>Urgency plus a request for credentials or codes is a warning sign. Never share a one-time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Quiz 2: The suspicious sender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1051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200" b="1">
                <a:solidFill>
                  <a:srgbClr val="111C34"/>
                </a:solidFill>
                <a:latin typeface="Aptos"/>
              </a:defRPr>
            </a:pPr>
            <a:r>
              <a:t>An email from “your manager” asks you to buy gift cards urgently. What is safest?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7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A. Buy them and send the codes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82112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B. Verify through a separate trusted channel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03904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67912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C. Reply with personal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25696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89704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D. Forward it to everyone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249160"/>
                </a:solidFill>
                <a:latin typeface="Aptos"/>
              </a:defRPr>
            </a:pPr>
            <a:r>
              <a:t>ANSWER: B — Verify independently.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5C697D"/>
                </a:solidFill>
                <a:latin typeface="Aptos"/>
              </a:defRPr>
            </a:pPr>
            <a:r>
              <a:t>Attackers can impersonate trusted people. Confirm unusual payment requests using a known method.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Quiz 3: The website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1051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200" b="1">
                <a:solidFill>
                  <a:srgbClr val="111C34"/>
                </a:solidFill>
                <a:latin typeface="Aptos"/>
              </a:defRPr>
            </a:pPr>
            <a:r>
              <a:t>A login page has a slightly misspelled domain. What should you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7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A. Sign in if it has a padlock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82112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B. Enter only your username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03904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67912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C. Close it and use a known official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25696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89704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D. Test it with a reused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249160"/>
                </a:solidFill>
                <a:latin typeface="Aptos"/>
              </a:defRPr>
            </a:pPr>
            <a:r>
              <a:t>ANSWER: C — Use a known official address.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5C697D"/>
                </a:solidFill>
                <a:latin typeface="Aptos"/>
              </a:defRPr>
            </a:pPr>
            <a:r>
              <a:t>HTTPS encrypts a connection but does not prove the website is genuine.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Quiz 4: You shared a password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1051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200" b="1">
                <a:solidFill>
                  <a:srgbClr val="111C34"/>
                </a:solidFill>
                <a:latin typeface="Aptos"/>
              </a:defRPr>
            </a:pPr>
            <a:r>
              <a:t>You entered your password on a page you now suspect is fake. What should you do?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7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A. Wait and see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82112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B. Change it from a trusted device and report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03904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67912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C. Email your password to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25696"/>
            <a:ext cx="10241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89704"/>
            <a:ext cx="9784080" cy="32918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0">
                <a:solidFill>
                  <a:srgbClr val="222B3C"/>
                </a:solidFill>
                <a:latin typeface="Aptos"/>
              </a:defRPr>
            </a:pPr>
            <a:r>
              <a:t>D. Only clear browser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600" b="1">
                <a:solidFill>
                  <a:srgbClr val="249160"/>
                </a:solidFill>
                <a:latin typeface="Aptos"/>
              </a:defRPr>
            </a:pPr>
            <a:r>
              <a:t>ANSWER: B — Change it and report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300" b="0">
                <a:solidFill>
                  <a:srgbClr val="5C697D"/>
                </a:solidFill>
                <a:latin typeface="Aptos"/>
              </a:defRPr>
            </a:pPr>
            <a:r>
              <a:t>Change reused passwords too and follow the relevant incident-response process.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800" b="1">
                <a:solidFill>
                  <a:srgbClr val="111C34"/>
                </a:solidFill>
                <a:latin typeface="Aptos"/>
              </a:defRPr>
            </a:pPr>
            <a:r>
              <a:t>Remember: pause, verify, protect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868680" cy="6400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47548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2962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900" b="1">
                <a:solidFill>
                  <a:srgbClr val="5C697D"/>
                </a:solidFill>
                <a:latin typeface="Aptos"/>
              </a:defRPr>
            </a:pPr>
            <a:r>
              <a:t>PHISHING AWARENESS TRAINING • STAY ALERT. VERIFY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>
              <a:defRPr sz="1000" b="1">
                <a:solidFill>
                  <a:srgbClr val="5C697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82296" cy="2468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926079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2898648" cy="1645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000" b="0">
                <a:solidFill>
                  <a:srgbClr val="222B3C"/>
                </a:solidFill>
                <a:latin typeface="Aptos"/>
              </a:defRPr>
            </a:pPr>
            <a:r>
              <a:t>Urgency, fear, and unexpected requests are reasons to slow 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82296" cy="24688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2926079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67712"/>
            <a:ext cx="2898648" cy="1645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000" b="0">
                <a:solidFill>
                  <a:srgbClr val="222B3C"/>
                </a:solidFill>
                <a:latin typeface="Aptos"/>
              </a:defRPr>
            </a:pPr>
            <a:r>
              <a:t>Check the sender and request through a trusted, separate channel.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554480"/>
            <a:ext cx="82296" cy="2468880"/>
          </a:xfrm>
          <a:prstGeom prst="rect">
            <a:avLst/>
          </a:prstGeom>
          <a:solidFill>
            <a:srgbClr val="24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2926079" cy="43891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1800" b="1">
                <a:solidFill>
                  <a:srgbClr val="111C34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2898648" cy="1645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defRPr sz="2000" b="0">
                <a:solidFill>
                  <a:srgbClr val="222B3C"/>
                </a:solidFill>
                <a:latin typeface="Aptos"/>
              </a:defRPr>
            </a:pPr>
            <a:r>
              <a:t>Keep passwords and codes private; report suspicious activity promptly.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2500" b="1">
                <a:solidFill>
                  <a:srgbClr val="111C34"/>
                </a:solidFill>
                <a:latin typeface="Aptos"/>
              </a:defRPr>
            </a:pPr>
            <a:r>
              <a:t>When in doubt, don't click. Verify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>
              <a:defRPr sz="1500" b="0">
                <a:solidFill>
                  <a:srgbClr val="5C697D"/>
                </a:solidFill>
                <a:latin typeface="Aptos"/>
              </a:defRPr>
            </a:pPr>
            <a:r>
              <a:t>End of training •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