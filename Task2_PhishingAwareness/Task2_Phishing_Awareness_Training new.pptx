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2" d="100"/>
          <a:sy n="72" d="100"/>
        </p:scale>
        <p:origin x="-404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640080"/>
            <a:ext cx="2743200" cy="27432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3291840"/>
            <a:ext cx="1920240" cy="192024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4114800"/>
            <a:ext cx="1188720" cy="11887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7315200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PHISHING</a:t>
            </a:r>
            <a:br/>
            <a:r>
              <a:t>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6858000" cy="8229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200" b="0">
                <a:solidFill>
                  <a:srgbClr val="CDDCF5"/>
                </a:solidFill>
                <a:latin typeface="Aptos"/>
              </a:defRPr>
            </a:pPr>
            <a:r>
              <a:t>Recognize the bait. Verify the source. Protect your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6766560" cy="411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600" b="1">
                <a:solidFill>
                  <a:srgbClr val="00ADB5"/>
                </a:solidFill>
                <a:latin typeface="Aptos"/>
              </a:defRPr>
            </a:pPr>
            <a:r>
              <a:t>A practical security-awareness training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731520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BEC9DC"/>
                </a:solidFill>
                <a:latin typeface="Aptos"/>
              </a:defRPr>
            </a:pPr>
            <a:r>
              <a:t>Prepared for CodeAlpha Internship • Task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BEC9DC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B3C"/>
                </a:solidFill>
                <a:latin typeface="Aptos"/>
              </a:defRPr>
            </a:pPr>
            <a:r>
              <a:t>•  Explain what phishing is and why attackers use it.</a:t>
            </a:r>
          </a:p>
          <a:p>
            <a:pPr>
              <a:spcAft>
                <a:spcPts val="1200"/>
              </a:spcAft>
              <a:defRPr sz="2200">
                <a:solidFill>
                  <a:srgbClr val="222B3C"/>
                </a:solidFill>
                <a:latin typeface="Aptos"/>
              </a:defRPr>
            </a:pPr>
            <a:r>
              <a:t>•  Recognize warning signs in emails, messages, and websites.</a:t>
            </a:r>
          </a:p>
          <a:p>
            <a:pPr>
              <a:spcAft>
                <a:spcPts val="1200"/>
              </a:spcAft>
              <a:defRPr sz="2200">
                <a:solidFill>
                  <a:srgbClr val="222B3C"/>
                </a:solidFill>
                <a:latin typeface="Aptos"/>
              </a:defRPr>
            </a:pPr>
            <a:r>
              <a:t>•  Identify social-engineering tactics such as urgency, authority, and fear.</a:t>
            </a:r>
          </a:p>
          <a:p>
            <a:pPr>
              <a:spcAft>
                <a:spcPts val="1200"/>
              </a:spcAft>
              <a:defRPr sz="2200">
                <a:solidFill>
                  <a:srgbClr val="222B3C"/>
                </a:solidFill>
                <a:latin typeface="Aptos"/>
              </a:defRPr>
            </a:pPr>
            <a:r>
              <a:t>•  Practice safer ways to verify requests and protect accounts.</a:t>
            </a:r>
          </a:p>
          <a:p>
            <a:pPr>
              <a:spcAft>
                <a:spcPts val="1200"/>
              </a:spcAft>
              <a:defRPr sz="2200">
                <a:solidFill>
                  <a:srgbClr val="222B3C"/>
                </a:solidFill>
                <a:latin typeface="Aptos"/>
              </a:defRPr>
            </a:pPr>
            <a:r>
              <a:t>•  Choose what to do when a message seems suspicious—or when you already clicked.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What is phishing?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THE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1508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200" b="1">
                <a:solidFill>
                  <a:srgbClr val="111C34"/>
                </a:solidFill>
                <a:latin typeface="Aptos"/>
              </a:defRPr>
            </a:pPr>
            <a:r>
              <a:t>Phishing is a form of social engineering in which an attacker impersonates a trusted person or organization to trick someone into revealing information, opening a harmful attachment, sending money, or taking another unsafe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33756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3337560"/>
            <a:ext cx="82296" cy="1828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2926079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THE BAIT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50791"/>
            <a:ext cx="2898648" cy="10058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A message, call, QR code, or website designed to look trustworthy.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33756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3337560"/>
            <a:ext cx="82296" cy="1828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3520440"/>
            <a:ext cx="2926079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THE TRICK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050791"/>
            <a:ext cx="2898648" cy="10058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Pressure, deception, or a believable story that prompts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333756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3337560"/>
            <a:ext cx="82296" cy="1828800"/>
          </a:xfrm>
          <a:prstGeom prst="rect">
            <a:avLst/>
          </a:prstGeom>
          <a:solidFill>
            <a:srgbClr val="CD3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3520440"/>
            <a:ext cx="2926079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THE 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050791"/>
            <a:ext cx="2898648" cy="10058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Steal credentials or data, gain access, or persuade someone to transfer money.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How a phishing attack often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THE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82296" cy="27432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10312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1.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2075688" cy="19202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A message pretends to be from a bank, employer, delivery service, or friend.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82296" cy="2743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94760" y="2011680"/>
            <a:ext cx="210312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2. Pressure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542032"/>
            <a:ext cx="2075688" cy="19202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It asks you to click, open, pay, sign in, or share a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82880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1828800"/>
            <a:ext cx="82296" cy="27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2011680"/>
            <a:ext cx="210312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3. 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542032"/>
            <a:ext cx="2075688" cy="19202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A fake page collects information, or a link/attachment triggers a harmful action.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82880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26880" y="1828800"/>
            <a:ext cx="82296" cy="2743200"/>
          </a:xfrm>
          <a:prstGeom prst="rect">
            <a:avLst/>
          </a:prstGeom>
          <a:solidFill>
            <a:srgbClr val="CD3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55480" y="2011680"/>
            <a:ext cx="210312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4. Misuse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542032"/>
            <a:ext cx="2075688" cy="19202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The attacker may try account takeover, fraud, or data theft.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Spot the warning signs in an email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RECOGNIZE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Unexpected request for a password, one-time code, payment, or personal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Urgent or threatening language: “act now,” “account will be closed,” or “final warning.”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Sender address or reply-to does not match the organization or person claimed.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Unexpected attachments, unusual links, or requests to install software.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Generic greeting, odd wording, inconsistent branding, or details that do not fit.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A message that bypasses normal approval or verification procedures.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Check links and fake websites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RECOGNIZE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516636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82296" cy="3840480"/>
          </a:xfrm>
          <a:prstGeom prst="rect">
            <a:avLst/>
          </a:prstGeom>
          <a:solidFill>
            <a:srgbClr val="CD3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LOOK CLOSELY AT THE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4727448" cy="30175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• Read the registered domain carefully.</a:t>
            </a:r>
            <a:br/>
            <a:r>
              <a:t/>
            </a:r>
            <a:br/>
            <a:r>
              <a:t>• Watch for misspellings, extra words, strange subdomains, and look-alike characters.</a:t>
            </a:r>
            <a:br/>
            <a:r>
              <a:t/>
            </a:r>
            <a:br/>
            <a:r>
              <a:t>• HTTPS/padlock encrypts the connection; it does not prove the site is legitimate.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16636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82296" cy="3840480"/>
          </a:xfrm>
          <a:prstGeom prst="rect">
            <a:avLst/>
          </a:prstGeom>
          <a:solidFill>
            <a:srgbClr val="24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SAFER WAYS TO 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76272"/>
            <a:ext cx="4727448" cy="30175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• Don't sign in through a message link.</a:t>
            </a:r>
            <a:br/>
            <a:r>
              <a:t/>
            </a:r>
            <a:br/>
            <a:r>
              <a:t>• Type a known address or use the official app/bookmark.</a:t>
            </a:r>
            <a:br/>
            <a:r>
              <a:t/>
            </a:r>
            <a:br/>
            <a:r>
              <a:t>• Check the request using a trusted phone number or separate channel.</a:t>
            </a:r>
            <a:br/>
            <a:r>
              <a:t/>
            </a:r>
            <a:br/>
            <a:r>
              <a:t>• Never enter credentials if unsure.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05840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1600" b="1">
                <a:solidFill>
                  <a:srgbClr val="2962FF"/>
                </a:solidFill>
                <a:latin typeface="Aptos"/>
              </a:defRPr>
            </a:pPr>
            <a:r>
              <a:t>Fictional example:  bank-example.com  ≠  bank-example-security.example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Social-engineering tactics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RECOGNIZE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82296" cy="1600200"/>
          </a:xfrm>
          <a:prstGeom prst="rect">
            <a:avLst/>
          </a:prstGeom>
          <a:solidFill>
            <a:srgbClr val="CD3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29718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30552"/>
            <a:ext cx="2944368" cy="7772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0">
                <a:solidFill>
                  <a:srgbClr val="222B3C"/>
                </a:solidFill>
                <a:latin typeface="Aptos"/>
              </a:defRPr>
            </a:pPr>
            <a:r>
              <a:t>“Your account closes in 10 minutes.”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417320"/>
            <a:ext cx="82296" cy="16002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1600200"/>
            <a:ext cx="29718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130552"/>
            <a:ext cx="2944368" cy="7772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0">
                <a:solidFill>
                  <a:srgbClr val="222B3C"/>
                </a:solidFill>
                <a:latin typeface="Aptos"/>
              </a:defRPr>
            </a:pPr>
            <a:r>
              <a:t>“I’m the director. Buy gift cards now.”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417320"/>
            <a:ext cx="82296" cy="1600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1600200"/>
            <a:ext cx="29718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Fear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130552"/>
            <a:ext cx="2944368" cy="7772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0">
                <a:solidFill>
                  <a:srgbClr val="222B3C"/>
                </a:solidFill>
                <a:latin typeface="Aptos"/>
              </a:defRPr>
            </a:pPr>
            <a:r>
              <a:t>“A legal case has been opened.”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74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3474720"/>
            <a:ext cx="82296" cy="1600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657600"/>
            <a:ext cx="29718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Reward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87952"/>
            <a:ext cx="2944368" cy="7772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0">
                <a:solidFill>
                  <a:srgbClr val="222B3C"/>
                </a:solidFill>
                <a:latin typeface="Aptos"/>
              </a:defRPr>
            </a:pPr>
            <a:r>
              <a:t>“You won a prize—claim it here.”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474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3474720"/>
            <a:ext cx="82296" cy="16002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0600" y="3657600"/>
            <a:ext cx="29718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Curiosity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187952"/>
            <a:ext cx="2944368" cy="7772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0">
                <a:solidFill>
                  <a:srgbClr val="222B3C"/>
                </a:solidFill>
                <a:latin typeface="Aptos"/>
              </a:defRPr>
            </a:pPr>
            <a:r>
              <a:t>“See the confidential file.”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474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66760" y="3474720"/>
            <a:ext cx="82296" cy="1600200"/>
          </a:xfrm>
          <a:prstGeom prst="rect">
            <a:avLst/>
          </a:prstGeom>
          <a:solidFill>
            <a:srgbClr val="24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95360" y="3657600"/>
            <a:ext cx="29718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Familiarity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187952"/>
            <a:ext cx="2944368" cy="7772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0">
                <a:solidFill>
                  <a:srgbClr val="222B3C"/>
                </a:solidFill>
                <a:latin typeface="Aptos"/>
              </a:defRPr>
            </a:pPr>
            <a:r>
              <a:t>A message appears to come from a colleague.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Phishing can arrive through many channels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RECOGNIZE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82296" cy="1828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301752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2990088" cy="10058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Fake invoices, account alerts, shared-document notices.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82296" cy="1828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645920"/>
            <a:ext cx="301752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SMS / MESSAGING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76272"/>
            <a:ext cx="2990088" cy="10058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Delivery fees, mobile-money alerts, urgent requests.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4630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463040"/>
            <a:ext cx="82296" cy="1828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301752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CALLS / SOCIAL 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76272"/>
            <a:ext cx="2990088" cy="10058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Fake support agents, impersonation, fraudulent offers.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6040" y="3794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06040" y="3794760"/>
            <a:ext cx="82296" cy="1645920"/>
          </a:xfrm>
          <a:prstGeom prst="rect">
            <a:avLst/>
          </a:prstGeom>
          <a:solidFill>
            <a:srgbClr val="CD3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34640" y="3977640"/>
            <a:ext cx="301752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QR CODES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507992"/>
            <a:ext cx="2990088" cy="8229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May lead to a fake login or payment page.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94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794760"/>
            <a:ext cx="82296" cy="1645920"/>
          </a:xfrm>
          <a:prstGeom prst="rect">
            <a:avLst/>
          </a:prstGeom>
          <a:solidFill>
            <a:srgbClr val="24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977640"/>
            <a:ext cx="301752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FAKE SIGN-IN PAGES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507992"/>
            <a:ext cx="2990088" cy="8229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Look-alike pages can collect credentials or codes.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Example scenarios: find the red flags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51663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82296" cy="3566160"/>
          </a:xfrm>
          <a:prstGeom prst="rect">
            <a:avLst/>
          </a:prstGeom>
          <a:solidFill>
            <a:srgbClr val="CD3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SCENARIO A — “BANK” 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4727448" cy="27432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“Your mobile banking access is blocked. Confirm your PIN and one-time code using this link within 15 minutes.”</a:t>
            </a:r>
            <a:br/>
            <a:r>
              <a:t/>
            </a:r>
            <a:br/>
            <a:r>
              <a:t>Red flags: urgency, request for PIN/OTP, link-based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1663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82296" cy="3566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SCENARIO B — “COWORKER”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76272"/>
            <a:ext cx="4727448" cy="27432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“I’m in a meeting. Open this unexpected document and sign in with your work account.”</a:t>
            </a:r>
            <a:br/>
            <a:r>
              <a:t/>
            </a:r>
            <a:br/>
            <a:r>
              <a:t>Red flags: unexpected file, unusual sign-in request, pressure to bypass checks.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1300" b="0">
                <a:solidFill>
                  <a:srgbClr val="5C697D"/>
                </a:solidFill>
                <a:latin typeface="Aptos"/>
              </a:defRPr>
            </a:pPr>
            <a:r>
              <a:t>Fictional training scenarios based on common phishing patterns.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Real-world patterns to learn from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Business email compromise: impersonating an executive or supplier to request a payment or bank-detail change.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Credential phishing: a fake login page imitates a service and captures credentials.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Delivery-fee scam: a message claims a parcel is held and asks for payment through a link.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MFA-code theft: a scammer asks for a one-time code or pushes a victim to approve a sign-in.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Lesson: independently verify sensitive requests, especially payments, account changes, and authentication codes.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1042416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100" b="0">
                <a:solidFill>
                  <a:srgbClr val="5C697D"/>
                </a:solidFill>
                <a:latin typeface="Aptos"/>
              </a:defRPr>
            </a:pPr>
            <a:r>
              <a:t>These are generalized examples of common real-world patterns, not claims about a specific incident.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Best practices: reduce your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PROTECT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Pause before acting on unexpected or urgent messages.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Verify the sender and request using a separate, trusted channel.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Navigate through a known website or official app—not message links.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Use unique passwords with a password manager; enable multifactor authentication (MFA).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Never share passwords, PINs, recovery codes, or one-time passcodes with someone who contacts you.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Keep your device, browser, and security software updated.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Report suspicious messages using your organization's approved process.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What if you clicked or shared information?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1. Stop interacting. Don't enter more information or approve further prompts.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2. Report the incident through your organization's, service provider's, or bank's official channel.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3. If you entered a password, change it from a trusted device; change it anywhere else it was reused.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4. If you shared a code or approved a sign-in, review sessions and revoke unfamiliar ones.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5. If money or financial details are involved, contact your bank/payment provider immediately.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6. Preserve the message and follow your organization's incident-response guidance.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Before you take the quiz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rPr dirty="0"/>
              <a:t>QUICK SELF-CHECK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33048"/>
                </a:solidFill>
                <a:latin typeface="Aptos"/>
              </a:defRPr>
            </a:pPr>
            <a:r>
              <a:t>Take a moment to think about what you have learned: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49834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82296" cy="1234440"/>
          </a:xfrm>
          <a:prstGeom prst="rect">
            <a:avLst/>
          </a:prstGeom>
          <a:solidFill>
            <a:srgbClr val="247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2708" y="2437428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33048"/>
                </a:solidFill>
                <a:latin typeface="Aptos"/>
              </a:defRPr>
            </a:pPr>
            <a:r>
              <a:rPr dirty="0"/>
              <a:t>Spot the warning signs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8215" y="2845391"/>
            <a:ext cx="4526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414E60"/>
                </a:solidFill>
                <a:latin typeface="Aptos"/>
              </a:defRPr>
            </a:pPr>
            <a:r>
              <a:rPr dirty="0"/>
              <a:t>Can you recognize urgency, unusual requests, suspicious links, and mismatched </a:t>
            </a:r>
            <a:r>
              <a:rPr dirty="0" smtClean="0"/>
              <a:t>sender</a:t>
            </a:r>
            <a:r>
              <a:rPr lang="en-US" dirty="0" smtClean="0"/>
              <a:t>  </a:t>
            </a:r>
            <a:r>
              <a:rPr dirty="0" smtClean="0"/>
              <a:t>details</a:t>
            </a:r>
            <a:r>
              <a:rPr dirty="0"/>
              <a:t>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31720"/>
            <a:ext cx="49834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2331720"/>
            <a:ext cx="82296" cy="1234440"/>
          </a:xfrm>
          <a:prstGeom prst="rect">
            <a:avLst/>
          </a:prstGeom>
          <a:solidFill>
            <a:srgbClr val="247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2542032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33048"/>
                </a:solidFill>
                <a:latin typeface="Aptos"/>
              </a:defRPr>
            </a:pPr>
            <a:r>
              <a:rPr dirty="0"/>
              <a:t>Verify before acting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020181"/>
            <a:ext cx="4526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414E60"/>
                </a:solidFill>
                <a:latin typeface="Aptos"/>
              </a:defRPr>
            </a:pPr>
            <a:r>
              <a:rPr dirty="0"/>
              <a:t>Can you explain how to check a request through a trusted, separate channel?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86200"/>
            <a:ext cx="49834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3886200"/>
            <a:ext cx="82296" cy="1234440"/>
          </a:xfrm>
          <a:prstGeom prst="rect">
            <a:avLst/>
          </a:prstGeom>
          <a:solidFill>
            <a:srgbClr val="247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4712" y="4096512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33048"/>
                </a:solidFill>
                <a:latin typeface="Aptos"/>
              </a:defRPr>
            </a:pPr>
            <a:r>
              <a:t>Protect your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4533314"/>
            <a:ext cx="4526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414E60"/>
                </a:solidFill>
                <a:latin typeface="Aptos"/>
              </a:defRPr>
            </a:pPr>
            <a:r>
              <a:rPr dirty="0"/>
              <a:t>Do you know never to share passwords, PINs, or one-time verification codes?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886200"/>
            <a:ext cx="49834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886200"/>
            <a:ext cx="82296" cy="1234440"/>
          </a:xfrm>
          <a:prstGeom prst="rect">
            <a:avLst/>
          </a:prstGeom>
          <a:solidFill>
            <a:srgbClr val="247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4096512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33048"/>
                </a:solidFill>
                <a:latin typeface="Aptos"/>
              </a:defRPr>
            </a:pPr>
            <a:r>
              <a:t>Respond safely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507992"/>
            <a:ext cx="4526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414E60"/>
                </a:solidFill>
                <a:latin typeface="Aptos"/>
              </a:defRPr>
            </a:pPr>
            <a:r>
              <a:rPr dirty="0"/>
              <a:t>Do you know what to do if you clicked a suspicious link or shared information?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321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476B4"/>
                </a:solidFill>
                <a:latin typeface="Aptos"/>
              </a:defRPr>
            </a:pPr>
            <a:r>
              <a:t>If you can explain these steps, you're ready for the challenge.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Ready to test your understanding?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INTERACTIVE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33048"/>
                </a:solidFill>
                <a:latin typeface="Aptos"/>
              </a:defRPr>
            </a:pPr>
            <a:r>
              <a:t>Put your knowledge to the test with realistic phishing scenarios.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560320"/>
            <a:ext cx="969264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34440" y="2560320"/>
            <a:ext cx="82296" cy="1417320"/>
          </a:xfrm>
          <a:prstGeom prst="rect">
            <a:avLst/>
          </a:prstGeom>
          <a:solidFill>
            <a:srgbClr val="247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90472" y="2770632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33048"/>
                </a:solidFill>
                <a:latin typeface="Aptos"/>
              </a:defRPr>
            </a:pPr>
            <a:r>
              <a:t>THE INTERACTIVE PHISHING QUIZ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3310127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414E60"/>
                </a:solidFill>
                <a:latin typeface="Aptos"/>
              </a:defRPr>
            </a:pPr>
            <a:r>
              <a:t>Choose what you would do in each situation, get immediate feedback, and see your final score.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476B4"/>
                </a:solidFill>
                <a:latin typeface="Aptos"/>
              </a:defRPr>
            </a:pPr>
            <a:r>
              <a:t>Open the accompanying interactive quiz to begin.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2578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33048"/>
                </a:solidFill>
                <a:latin typeface="Aptos"/>
              </a:defRPr>
            </a:pPr>
            <a:r>
              <a:t>Pause • Verify • Protect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Remember: pause, verify, protect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3337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554480"/>
            <a:ext cx="82296" cy="2468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2926079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PAUSE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67712"/>
            <a:ext cx="2898648" cy="1645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000" b="0">
                <a:solidFill>
                  <a:srgbClr val="222B3C"/>
                </a:solidFill>
                <a:latin typeface="Aptos"/>
              </a:defRPr>
            </a:pPr>
            <a:r>
              <a:t>Urgency, fear, and unexpected requests are reasons to slow down.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337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82296" cy="2468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737360"/>
            <a:ext cx="2926079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67712"/>
            <a:ext cx="2898648" cy="1645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000" b="0">
                <a:solidFill>
                  <a:srgbClr val="222B3C"/>
                </a:solidFill>
                <a:latin typeface="Aptos"/>
              </a:defRPr>
            </a:pPr>
            <a:r>
              <a:t>Check the sender and request through a trusted, separate channel.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554480"/>
            <a:ext cx="3337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554480"/>
            <a:ext cx="82296" cy="2468880"/>
          </a:xfrm>
          <a:prstGeom prst="rect">
            <a:avLst/>
          </a:prstGeom>
          <a:solidFill>
            <a:srgbClr val="24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737360"/>
            <a:ext cx="2926079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PROTECT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67712"/>
            <a:ext cx="2898648" cy="1645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000" b="0">
                <a:solidFill>
                  <a:srgbClr val="222B3C"/>
                </a:solidFill>
                <a:latin typeface="Aptos"/>
              </a:defRPr>
            </a:pPr>
            <a:r>
              <a:t>Keep passwords and codes private; report suspicious activity promptly.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10241280" cy="5943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2500" b="1">
                <a:solidFill>
                  <a:srgbClr val="111C34"/>
                </a:solidFill>
                <a:latin typeface="Aptos"/>
              </a:defRPr>
            </a:pPr>
            <a:r>
              <a:t>When in doubt, don't click. Verify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1024128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1500" b="0">
                <a:solidFill>
                  <a:srgbClr val="5C697D"/>
                </a:solidFill>
                <a:latin typeface="Aptos"/>
              </a:defRPr>
            </a:pPr>
            <a:r>
              <a:t>End of training • 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1310</Words>
  <Application>Microsoft Office PowerPoint</Application>
  <PresentationFormat>Custom</PresentationFormat>
  <Paragraphs>161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dc:description>generated using python-pptx</dc:description>
  <cp:lastModifiedBy>HP</cp:lastModifiedBy>
  <cp:revision>3</cp:revision>
  <dcterms:created xsi:type="dcterms:W3CDTF">2013-01-27T09:14:16Z</dcterms:created>
  <dcterms:modified xsi:type="dcterms:W3CDTF">2026-09-26T22:27:52Z</dcterms:modified>
</cp:coreProperties>
</file>